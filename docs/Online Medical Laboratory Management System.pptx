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4" r:id="rId8"/>
    <p:sldId id="271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5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61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2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7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3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6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5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3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17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29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77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24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11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3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F6F5AE-98CF-44E5-A4DF-64E0A14142D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41CAC2-DC5E-4365-94E3-F8354273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16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933C-345D-0DEC-18B7-40AE37CD6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650" y="1107018"/>
            <a:ext cx="10067923" cy="26161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Online Medical Laboratory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7CF95-95CD-77BD-5678-4B36D96F7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Submitted by: </a:t>
            </a:r>
            <a:r>
              <a:rPr lang="en-US" i="1" dirty="0" err="1"/>
              <a:t>Sujal</a:t>
            </a:r>
            <a:r>
              <a:rPr lang="en-US" i="1" dirty="0"/>
              <a:t> Shrestha</a:t>
            </a:r>
            <a:br>
              <a:rPr lang="en-US" dirty="0"/>
            </a:br>
            <a:r>
              <a:rPr lang="en-US" dirty="0"/>
              <a:t>Roll No: </a:t>
            </a:r>
            <a:r>
              <a:rPr lang="en-US" i="1" dirty="0"/>
              <a:t>63</a:t>
            </a:r>
            <a:br>
              <a:rPr lang="en-US" dirty="0"/>
            </a:br>
            <a:r>
              <a:rPr lang="en-US" dirty="0"/>
              <a:t>Supervisor: </a:t>
            </a:r>
            <a:r>
              <a:rPr lang="en-US" sz="1800" i="0" dirty="0">
                <a:effectLst/>
                <a:latin typeface="Arial" panose="020B0604020202020204" pitchFamily="34" charset="0"/>
              </a:rPr>
              <a:t>Narayan </a:t>
            </a:r>
            <a:r>
              <a:rPr lang="en-US" sz="1800" i="0" dirty="0" err="1">
                <a:effectLst/>
                <a:latin typeface="Arial" panose="020B0604020202020204" pitchFamily="34" charset="0"/>
              </a:rPr>
              <a:t>Dhamala</a:t>
            </a:r>
            <a:r>
              <a:rPr lang="en-US" sz="1800" i="0" dirty="0">
                <a:effectLst/>
                <a:latin typeface="Arial" panose="020B0604020202020204" pitchFamily="34" charset="0"/>
              </a:rPr>
              <a:t> </a:t>
            </a:r>
            <a:br>
              <a:rPr lang="en-US" dirty="0"/>
            </a:br>
            <a:r>
              <a:rPr lang="en-US" dirty="0"/>
              <a:t>Department of BCA</a:t>
            </a:r>
          </a:p>
        </p:txBody>
      </p:sp>
    </p:spTree>
    <p:extLst>
      <p:ext uri="{BB962C8B-B14F-4D97-AF65-F5344CB8AC3E}">
        <p14:creationId xmlns:p14="http://schemas.microsoft.com/office/powerpoint/2010/main" val="2308938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DC68-4349-0AB7-F5B3-C54499A6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73188-895A-DC1C-7F92-1D2691384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Medical laboratories play a vital role in diagnosis and healthcare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Many laboratories still rely on manual record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Manual appointment booking and report delivery cause delays and inconvenience.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 web-based automated system can improve accessibility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345515377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84BB-2513-45FF-1A5B-9AD848AC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5F386-DEBF-0E73-26A3-1329C6A94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Manual record keeping leads to errors and delays.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Patients must visit labs physically for booking and report collection.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Appointment conflicts and inefficient scheduling.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Lack of centralized platform for viewing test prices and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Limited communication between patients and laboratories.</a:t>
            </a:r>
          </a:p>
          <a:p>
            <a:pPr marL="0" indent="0">
              <a:buNone/>
            </a:pPr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97064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A885-72FA-C85E-E215-DEFD180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FE7C625-761F-BF4C-B20C-1A69948E2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03410" y="2891304"/>
            <a:ext cx="818050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Automate laboratory appointment and report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Allow patients to search labs and view test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Enable online appointment booking and payment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Provide digital report upload and download.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Improve accuracy and reduce administrative workload.</a:t>
            </a:r>
          </a:p>
        </p:txBody>
      </p:sp>
    </p:spTree>
    <p:extLst>
      <p:ext uri="{BB962C8B-B14F-4D97-AF65-F5344CB8AC3E}">
        <p14:creationId xmlns:p14="http://schemas.microsoft.com/office/powerpoint/2010/main" val="250089992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5A93-BB36-A6E2-208C-78FD6C80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Proposed System Overview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827782E-740F-A157-EFB1-C525DF77BE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444269"/>
            <a:ext cx="91318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Web-based platform connecting Patients, Lab Staff, and Admin.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Patients can browse labs, book tests, and download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Lab staff can manage tests, verify payments, and upload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Admin verifies laboratories and monitors system activities.</a:t>
            </a:r>
          </a:p>
        </p:txBody>
      </p:sp>
    </p:spTree>
    <p:extLst>
      <p:ext uri="{BB962C8B-B14F-4D97-AF65-F5344CB8AC3E}">
        <p14:creationId xmlns:p14="http://schemas.microsoft.com/office/powerpoint/2010/main" val="76164085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3BB0-5878-88DC-1CA2-A24B0FEE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30E71-5E9F-8842-DF8E-B596EEB5F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Technologies Used</a:t>
            </a:r>
            <a:endParaRPr lang="en-US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Java 17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JSP &amp; Servlets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Apache Tomcat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Leaflet + OpenStreetMap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BCrypt</a:t>
            </a:r>
            <a:r>
              <a:rPr lang="en-US" dirty="0">
                <a:latin typeface="Aptos" panose="020B0004020202020204" pitchFamily="34" charset="0"/>
              </a:rPr>
              <a:t> for password security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74155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FB9D-2308-BCDD-92CD-F17659D7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Key Features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E49C59-D13F-F0BA-0667-B7AA9FA730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105716"/>
            <a:ext cx="692362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Lab discovery with nearest location 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Multi-test appointment booking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Payment verification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Report upload and secure download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Admin lab verification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39933200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1759C-0C4C-4654-4540-624ADB97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6A344-14FE-3AB5-BFC7-4DC800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350" marR="1905" indent="-635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MS UI Gothic" panose="020B0600070205080204" pitchFamily="34" charset="-128"/>
                <a:ea typeface="MS UI Gothic" panose="020B0600070205080204" pitchFamily="34" charset="-128"/>
              </a:rPr>
              <a:t>Haversine Distance Algorithm (Nearest Lab Search)</a:t>
            </a:r>
          </a:p>
          <a:p>
            <a:pPr marL="6350" marR="1905" indent="-6350" algn="just">
              <a:lnSpc>
                <a:spcPct val="150000"/>
              </a:lnSpc>
              <a:spcBef>
                <a:spcPts val="0"/>
              </a:spcBef>
              <a:spcAft>
                <a:spcPts val="805"/>
              </a:spcAft>
            </a:pPr>
            <a:r>
              <a:rPr lang="en-US" sz="1600" kern="100" dirty="0">
                <a:solidFill>
                  <a:srgbClr val="000000"/>
                </a:solidFill>
                <a:effectLst/>
                <a:latin typeface="MS UI Gothic" panose="020B0600070205080204" pitchFamily="34" charset="-128"/>
                <a:ea typeface="MS UI Gothic" panose="020B0600070205080204" pitchFamily="34" charset="-128"/>
              </a:rPr>
              <a:t>The Haversine algorithm is used to calculate the geographical distance between the patient’s location and laboratory coordinates. This enables the system to provide nearest laboratory recommendations.</a:t>
            </a:r>
          </a:p>
          <a:p>
            <a:pPr marL="6350" marR="1905" indent="-6350" algn="just">
              <a:lnSpc>
                <a:spcPct val="150000"/>
              </a:lnSpc>
              <a:spcBef>
                <a:spcPts val="0"/>
              </a:spcBef>
              <a:spcAft>
                <a:spcPts val="805"/>
              </a:spcAf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MS UI Gothic" panose="020B0600070205080204" pitchFamily="34" charset="-128"/>
                <a:ea typeface="MS UI Gothic" panose="020B0600070205080204" pitchFamily="34" charset="-128"/>
              </a:rPr>
              <a:t>Algorithm Steps</a:t>
            </a:r>
            <a:endParaRPr lang="en-US" sz="1600" kern="100" dirty="0">
              <a:solidFill>
                <a:srgbClr val="000000"/>
              </a:solidFill>
              <a:effectLst/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342900" marR="1905" lvl="0" indent="-342900" algn="just">
              <a:lnSpc>
                <a:spcPct val="150000"/>
              </a:lnSpc>
              <a:spcBef>
                <a:spcPts val="0"/>
              </a:spcBef>
              <a:spcAft>
                <a:spcPts val="80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kern="100" dirty="0">
                <a:solidFill>
                  <a:srgbClr val="000000"/>
                </a:solidFill>
                <a:effectLst/>
                <a:latin typeface="MS UI Gothic" panose="020B0600070205080204" pitchFamily="34" charset="-128"/>
                <a:ea typeface="MS UI Gothic" panose="020B0600070205080204" pitchFamily="34" charset="-128"/>
              </a:rPr>
              <a:t>Convert latitude and longitude differences into radians.</a:t>
            </a:r>
          </a:p>
          <a:p>
            <a:pPr marL="342900" marR="1905" lvl="0" indent="-342900" algn="just">
              <a:lnSpc>
                <a:spcPct val="150000"/>
              </a:lnSpc>
              <a:spcBef>
                <a:spcPts val="0"/>
              </a:spcBef>
              <a:spcAft>
                <a:spcPts val="80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kern="100" dirty="0">
                <a:solidFill>
                  <a:srgbClr val="000000"/>
                </a:solidFill>
                <a:effectLst/>
                <a:latin typeface="MS UI Gothic" panose="020B0600070205080204" pitchFamily="34" charset="-128"/>
                <a:ea typeface="MS UI Gothic" panose="020B0600070205080204" pitchFamily="34" charset="-128"/>
              </a:rPr>
              <a:t>Compute the intermediate value using trigonometric functions.</a:t>
            </a:r>
          </a:p>
          <a:p>
            <a:pPr marL="342900" marR="1905" lvl="0" indent="-342900" algn="just">
              <a:lnSpc>
                <a:spcPct val="150000"/>
              </a:lnSpc>
              <a:spcBef>
                <a:spcPts val="0"/>
              </a:spcBef>
              <a:spcAft>
                <a:spcPts val="80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kern="100" dirty="0">
                <a:solidFill>
                  <a:srgbClr val="000000"/>
                </a:solidFill>
                <a:effectLst/>
                <a:latin typeface="MS UI Gothic" panose="020B0600070205080204" pitchFamily="34" charset="-128"/>
                <a:ea typeface="MS UI Gothic" panose="020B0600070205080204" pitchFamily="34" charset="-128"/>
              </a:rPr>
              <a:t>Calculate angular distance using the Haversine formula.</a:t>
            </a:r>
          </a:p>
          <a:p>
            <a:pPr marL="342900" marR="1905" lvl="0" indent="-342900" algn="just">
              <a:lnSpc>
                <a:spcPct val="150000"/>
              </a:lnSpc>
              <a:spcBef>
                <a:spcPts val="0"/>
              </a:spcBef>
              <a:spcAft>
                <a:spcPts val="80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kern="100" dirty="0">
                <a:solidFill>
                  <a:srgbClr val="000000"/>
                </a:solidFill>
                <a:effectLst/>
                <a:latin typeface="MS UI Gothic" panose="020B0600070205080204" pitchFamily="34" charset="-128"/>
                <a:ea typeface="MS UI Gothic" panose="020B0600070205080204" pitchFamily="34" charset="-128"/>
              </a:rPr>
              <a:t>Multiply by Earth’s radius (6371 km) to obtain the distance.</a:t>
            </a:r>
          </a:p>
          <a:p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09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DD0E-AA2A-066A-2073-21F6671B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D9DF3C-FEA8-DC7C-9F84-B9FBF22A50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4661" y="2745770"/>
            <a:ext cx="84915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system successfully automates laboratory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Improves accessibility and reduces manual workload.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Provides centralized platform for appointment and report management.</a:t>
            </a:r>
          </a:p>
        </p:txBody>
      </p:sp>
    </p:spTree>
    <p:extLst>
      <p:ext uri="{BB962C8B-B14F-4D97-AF65-F5344CB8AC3E}">
        <p14:creationId xmlns:p14="http://schemas.microsoft.com/office/powerpoint/2010/main" val="242201626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51EE-F160-162B-8C1A-3FAA0160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F0B6-DBEB-62BA-F4E0-5A2F6D7DD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160" y="2095499"/>
            <a:ext cx="10018713" cy="3124201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45626130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46</TotalTime>
  <Words>346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MS UI Gothic</vt:lpstr>
      <vt:lpstr>Algerian</vt:lpstr>
      <vt:lpstr>Aptos</vt:lpstr>
      <vt:lpstr>Arial</vt:lpstr>
      <vt:lpstr>Corbel</vt:lpstr>
      <vt:lpstr>Parallax</vt:lpstr>
      <vt:lpstr>Online Medical Laboratory Management System</vt:lpstr>
      <vt:lpstr>Introduction</vt:lpstr>
      <vt:lpstr>Problem Statement</vt:lpstr>
      <vt:lpstr>Objectives</vt:lpstr>
      <vt:lpstr>Proposed System Overview</vt:lpstr>
      <vt:lpstr>Implementation</vt:lpstr>
      <vt:lpstr>Key Features</vt:lpstr>
      <vt:lpstr>ALGORITHM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PSH TRIGGER</dc:creator>
  <cp:lastModifiedBy>PSH TRIGGER</cp:lastModifiedBy>
  <cp:revision>5</cp:revision>
  <dcterms:created xsi:type="dcterms:W3CDTF">2026-02-21T19:32:10Z</dcterms:created>
  <dcterms:modified xsi:type="dcterms:W3CDTF">2026-02-22T02:41:14Z</dcterms:modified>
</cp:coreProperties>
</file>